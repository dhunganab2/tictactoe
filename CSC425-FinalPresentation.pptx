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DM Sans" pitchFamily="2" charset="77"/>
      <p:regular r:id="rId20"/>
      <p:bold r:id="rId21"/>
      <p:italic r:id="rId22"/>
      <p:boldItalic r:id="rId23"/>
    </p:embeddedFont>
    <p:embeddedFont>
      <p:font typeface="Merriweather" pitchFamily="2" charset="77"/>
      <p:regular r:id="rId24"/>
      <p:bold r:id="rId25"/>
      <p:italic r:id="rId26"/>
      <p:boldItalic r:id="rId27"/>
    </p:embeddedFont>
    <p:embeddedFont>
      <p:font typeface="Merriweather Black" panose="020F0502020204030204" pitchFamily="34" charset="0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DE59BD-7202-4EFA-8B90-27EFF83B24C7}">
  <a:tblStyle styleId="{88DE59BD-7202-4EFA-8B90-27EFF83B24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81"/>
  </p:normalViewPr>
  <p:slideViewPr>
    <p:cSldViewPr snapToGrid="0">
      <p:cViewPr varScale="1">
        <p:scale>
          <a:sx n="122" d="100"/>
          <a:sy n="122" d="100"/>
        </p:scale>
        <p:origin x="224" y="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d4dbf1a2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ad4dbf1a2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d4dbf1a2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3ad4dbf1a2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d4dbf1a2d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ad4dbf1a2d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d4dbf1a2d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ad4dbf1a2d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dhunganab2/Tictactoe" TargetMode="Externa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36925" y="192400"/>
            <a:ext cx="9661500" cy="3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5400">
                <a:solidFill>
                  <a:srgbClr val="F1F5F9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Development of an Unbeatable Tic Tac Toe using</a:t>
            </a:r>
            <a:endParaRPr sz="5400">
              <a:solidFill>
                <a:srgbClr val="F1F5F9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5400">
                <a:solidFill>
                  <a:srgbClr val="F1F5F9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Search Algorithm 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61787" y="5223135"/>
            <a:ext cx="7248600" cy="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CSC 425 -Artificial Intelligence</a:t>
            </a:r>
            <a:endParaRPr sz="2200" b="1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Team Members: Bijay Dhungana,Aryan Kafle</a:t>
            </a:r>
            <a:endParaRPr sz="2200" b="1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7862"/>
            <a:ext cx="5334000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47862"/>
            <a:ext cx="533400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338387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 &amp; Objectives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677025" y="2724150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Scope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3764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133475" y="2976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00150" y="2976562"/>
            <a:ext cx="4314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Context: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Tic-Tac-Toe is a zero-sum, perfect information game, making it the "Hello World" of Game AI.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33475" y="4033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00150" y="4033837"/>
            <a:ext cx="4314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Develop an agent that evolves from "Smart" to "Perfect".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33475" y="47863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200150" y="4786312"/>
            <a:ext cx="4314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Key Metric: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Achieve a 0% Loss Rate against any opponent.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76225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848475" y="33623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15150" y="336232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Heuristic AI: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Rule-based baseline.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48475" y="3810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915150" y="381000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Minimax: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Mathematical perfection.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48475" y="4257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915150" y="425767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Alpha-Beta: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Optimization for speed.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848475" y="47053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915150" y="4705350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MCTS: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Scalability for larger grids (e.g., 4x4, 5x5).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 &amp; Context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7462"/>
            <a:ext cx="2547937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557462"/>
            <a:ext cx="2547937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557462"/>
            <a:ext cx="2547937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557462"/>
            <a:ext cx="2547937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17840" y="3538537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1. Heuristic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4071937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Rule-based priority system. Fast but fallible.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651527" y="3538537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2. Minimax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700462" y="4071937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Recursive backtracking search. Unbeatable.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85215" y="3538537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3. Alpha-Beta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34150" y="4071937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Pruning branches to optimize Minimax speed.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318902" y="3538537"/>
            <a:ext cx="20552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4. MCTS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367837" y="4071937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Monte Carlo simulations for scalable complexity.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54968" y="2900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12468" y="29003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22343" y="2900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08406" y="29003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Methodology: The Evolutionary Path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97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59638" y="1790700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Rule-Based Logic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2281238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agent follows a strict hierarchy of static rules to decide the next move. It doesn't "think" ahead, it just reacts.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52006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B923C"/>
                </a:solidFill>
                <a:latin typeface="DM Sans"/>
                <a:ea typeface="DM Sans"/>
                <a:cs typeface="DM Sans"/>
                <a:sym typeface="DM Sans"/>
              </a:rPr>
              <a:t>Drawback: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Easily trapped by "forks" where the opponent creates two winning threats simultaneously.</a:t>
            </a:r>
            <a:endParaRPr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21612" y="2119312"/>
            <a:ext cx="3159025" cy="379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742950" y="33623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09625" y="3386138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1. Win: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Take winning move immediately.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42950" y="3810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09625" y="381000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2. Block: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Stop opponent from winning.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42950" y="4257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09625" y="425767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3. Center: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Take the center (most valuable).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42950" y="47053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09625" y="470535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4. Corner: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Take a corner.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Approach 1: Heuristic AI (Baseline)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97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2100262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Perfect Optimal Play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71500" y="26336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Minimax treats the game as a tree of all possible future states. It recursively explores every path to the end.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512921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B923C"/>
                </a:solidFill>
                <a:latin typeface="DM Sans"/>
                <a:ea typeface="DM Sans"/>
                <a:cs typeface="DM Sans"/>
                <a:sym typeface="DM Sans"/>
              </a:rPr>
              <a:t>Cons: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Computationally expensive. explores ~550,000 nodes for a full 3x3 game.</a:t>
            </a:r>
            <a:endParaRPr/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3675" y="2481262"/>
            <a:ext cx="4914900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742950" y="3433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09625" y="343376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Maximizer (AI):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Tries to get the highest score (+10).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42950" y="3881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09625" y="38814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Minimizer (Opponent):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Tries to get the lowest score (-10).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42950" y="46339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09625" y="463391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Zero-Sum: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 win for one is a loss for the other.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Approach 2: Minimax Algorithm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66925"/>
            <a:ext cx="523875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2519362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Recursive Structure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30527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core function calls itself until a terminal state (Win/Loss/Draw) is reached.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42950" y="38528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09625" y="385286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Base Case: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Return +10, -10, or 0.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42950" y="43005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09625" y="4300537"/>
            <a:ext cx="5000625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Recursive Step: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33450" y="46053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047750" y="4605337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If AI's turn: Pick Max of children.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33450" y="50530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○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047750" y="5053012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If Opponent's turn: Pick Min of children.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Minimax Logic Implementation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97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571500" y="2095500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Optimizing the Search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571500" y="26289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We don't need to evaluate every branch. If we find a move that is "worse" than a move we already found, we can stop searching that branch.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571500" y="51339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Reduces search space by &gt;96% (from 500k to ~2k nodes) while maintaining mathematical perfection.</a:t>
            </a:r>
            <a:endParaRPr/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690217"/>
            <a:ext cx="5219700" cy="264899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742950" y="3733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09625" y="373380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Alpha: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The best value Max can guarantee so far.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742950" y="41814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09625" y="418147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Beta: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The best value Min can guarantee so far.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42950" y="46291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809625" y="4629150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Pruning: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If beta &lt;= alpha, we cut off the branch.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Approach 3: Alpha-Beta Pruning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84462"/>
            <a:ext cx="523875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6381750" y="2586037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The Pruning Logic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381750" y="3119437"/>
            <a:ext cx="5238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logic is identical to Minimax, with the addition of two parameters: alpha and beta.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553200" y="39290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619875" y="392906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Cut-off: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The `break` statement is where the efficiency happens. It stops the `for` loop early.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553200" y="46815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19875" y="46815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Propagation: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Alpha and Beta values are passed down the recursion tree to inform child nodes of the bounds.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Alpha-Beta Implementation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97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571500" y="1724025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Monte Carlo Tree Search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71500" y="22574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For larger boards (4x4, 5x5), the search tree grows exponentially, making Minimax impossible. MCTS solves this via probability.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55054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Converges to the optimal move without traversing the full tree.</a:t>
            </a:r>
            <a:endParaRPr/>
          </a:p>
        </p:txBody>
      </p:sp>
      <p:pic>
        <p:nvPicPr>
          <p:cNvPr id="234" name="Google Shape;23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546746"/>
            <a:ext cx="5219700" cy="293608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742950" y="33623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809625" y="336232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Selection: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Pick a promising node.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42950" y="3810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809625" y="381000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Expansion: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Add a new child state.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742950" y="4257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09625" y="425767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Simulation: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Play random moves to the end.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742950" y="47053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09625" y="47053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Backpropagation: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Update the node with the Win/Loss result.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571500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Approach 4: MCTS (Scalability)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571500" y="1314450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/>
        </p:nvSpPr>
        <p:spPr>
          <a:xfrm>
            <a:off x="571500" y="1780988"/>
            <a:ext cx="11049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We </a:t>
            </a:r>
            <a:r>
              <a:rPr lang="en-US" sz="22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simulated 20 games and following was the result:</a:t>
            </a:r>
            <a:endParaRPr sz="2100"/>
          </a:p>
        </p:txBody>
      </p:sp>
      <p:sp>
        <p:nvSpPr>
          <p:cNvPr id="250" name="Google Shape;250;p22"/>
          <p:cNvSpPr/>
          <p:nvPr/>
        </p:nvSpPr>
        <p:spPr>
          <a:xfrm>
            <a:off x="571500" y="3714750"/>
            <a:ext cx="199474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2566243" y="3714750"/>
            <a:ext cx="185216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418409" y="3714750"/>
            <a:ext cx="161910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6037510" y="3714750"/>
            <a:ext cx="558298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571500" y="4367212"/>
            <a:ext cx="19947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2566243" y="4367212"/>
            <a:ext cx="1852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4418409" y="4367212"/>
            <a:ext cx="16191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6037510" y="4367212"/>
            <a:ext cx="55829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71500" y="5005387"/>
            <a:ext cx="19947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2566243" y="5005387"/>
            <a:ext cx="18521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4418409" y="5005387"/>
            <a:ext cx="16191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6037510" y="5005387"/>
            <a:ext cx="55829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Result (Heuristic Approach)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590975" y="3188500"/>
            <a:ext cx="5277600" cy="27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2" title="Screenshot 2025-12-03 at 10.36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75" y="2962263"/>
            <a:ext cx="83820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43075"/>
            <a:ext cx="11049000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Result(Minimax Algorithm)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571500" y="1333500"/>
            <a:ext cx="110490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23" title="Screenshot 2025-12-03 at 9.53.2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875" y="2624125"/>
            <a:ext cx="851535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928850" y="2110838"/>
            <a:ext cx="11049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We </a:t>
            </a:r>
            <a:r>
              <a:rPr lang="en-US" sz="22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simulated 20 games and following was the result:</a:t>
            </a:r>
            <a:endParaRPr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Result (Alpha Beta Pruning)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571500" y="1333500"/>
            <a:ext cx="110490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708950" y="1506138"/>
            <a:ext cx="11049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We </a:t>
            </a:r>
            <a:r>
              <a:rPr lang="en-US" sz="22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simulated 20 games and following was the result:</a:t>
            </a:r>
            <a:endParaRPr sz="2100"/>
          </a:p>
        </p:txBody>
      </p:sp>
      <p:pic>
        <p:nvPicPr>
          <p:cNvPr id="283" name="Google Shape;283;p24" title="Screenshot 2025-12-03 at 9.57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00" y="2225400"/>
            <a:ext cx="9083226" cy="29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Result (MCTS Approach)</a:t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571500" y="1333500"/>
            <a:ext cx="110490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763925" y="1950050"/>
            <a:ext cx="110490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Upon further increasing the board size to 4x4 ,</a:t>
            </a:r>
            <a:r>
              <a:rPr lang="en-US" sz="2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We </a:t>
            </a:r>
            <a:r>
              <a:rPr lang="en-US" sz="22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simulated 20 games on 4x4 board  and following was the result:</a:t>
            </a:r>
            <a:endParaRPr sz="2100"/>
          </a:p>
        </p:txBody>
      </p:sp>
      <p:pic>
        <p:nvPicPr>
          <p:cNvPr id="291" name="Google Shape;291;p25" title="Screenshot 2025-12-03 at 10.01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3244675"/>
            <a:ext cx="90106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Efficiency</a:t>
            </a:r>
            <a:r>
              <a:rPr lang="en-US" sz="3600" b="1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 Calculation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98" name="Google Shape;298;p26"/>
          <p:cNvGraphicFramePr/>
          <p:nvPr/>
        </p:nvGraphicFramePr>
        <p:xfrm>
          <a:off x="139563" y="1646650"/>
          <a:ext cx="11912875" cy="4329625"/>
        </p:xfrm>
        <a:graphic>
          <a:graphicData uri="http://schemas.openxmlformats.org/drawingml/2006/table">
            <a:tbl>
              <a:tblPr>
                <a:noFill/>
                <a:tableStyleId>{88DE59BD-7202-4EFA-8B90-27EFF83B24C7}</a:tableStyleId>
              </a:tblPr>
              <a:tblGrid>
                <a:gridCol w="23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07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Method Used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Wins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Draw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Random Wins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Avg Nodes Explored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Heuristic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19/20 (95%)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1(5%)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Minimax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19/20 (95%)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309,105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Alpha-Beta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17/20 (85%)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13,559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MCTS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20/20 (100%)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~(3000 iterations/move)</a:t>
                      </a:r>
                      <a:endParaRPr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Key Observations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571500" y="1333500"/>
            <a:ext cx="110490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438800" y="1642400"/>
            <a:ext cx="11271300" cy="49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27"/>
          <p:cNvSpPr txBox="1"/>
          <p:nvPr/>
        </p:nvSpPr>
        <p:spPr>
          <a:xfrm>
            <a:off x="6018000" y="1833200"/>
            <a:ext cx="6068100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Minimax (Full Search)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Wins 95% of games with 1 draw, no losses.</a:t>
            </a:r>
            <a:endParaRPr sz="1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Explores the most nodes, making it accurate but expensive.</a:t>
            </a:r>
            <a:endParaRPr sz="1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Very accurate but computationally expensive.</a:t>
            </a:r>
            <a:endParaRPr sz="3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571500" y="4457225"/>
            <a:ext cx="5565000" cy="19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Alpha-Beta Pruning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Wins 85% of games with 3 draws and no losses.</a:t>
            </a:r>
            <a:endParaRPr sz="1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Searches far fewer nodes than Minimax due to effective pruning.</a:t>
            </a:r>
            <a:endParaRPr sz="1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Provides a strong balance of speed and decision quality.</a:t>
            </a:r>
            <a:endParaRPr sz="3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8" name="Google Shape;308;p27"/>
          <p:cNvSpPr txBox="1"/>
          <p:nvPr/>
        </p:nvSpPr>
        <p:spPr>
          <a:xfrm>
            <a:off x="6375300" y="4394550"/>
            <a:ext cx="5353500" cy="19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MCTS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Achieves 100% wins using fixed 3000 simulations per move.</a:t>
            </a:r>
            <a:endParaRPr sz="1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Extremely strong for large or complex state spaces.</a:t>
            </a:r>
            <a:endParaRPr sz="1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Most consistent and strongest performer among all methods.</a:t>
            </a:r>
            <a:endParaRPr sz="3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9" name="Google Shape;309;p27"/>
          <p:cNvSpPr txBox="1"/>
          <p:nvPr/>
        </p:nvSpPr>
        <p:spPr>
          <a:xfrm>
            <a:off x="626875" y="1775550"/>
            <a:ext cx="4927200" cy="10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Heuristic Approach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Wins 95% of games but also  1 human win.</a:t>
            </a:r>
            <a:endParaRPr sz="1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Uses a very shallow search, making it fast but less reliable.</a:t>
            </a:r>
            <a:endParaRPr sz="13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Can make human-like mistakes due to heuristic limitations.</a:t>
            </a:r>
            <a:endParaRPr sz="3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8" descr="image.png"/>
          <p:cNvPicPr preferRelativeResize="0"/>
          <p:nvPr/>
        </p:nvPicPr>
        <p:blipFill rotWithShape="1">
          <a:blip r:embed="rId3">
            <a:alphaModFix/>
          </a:blip>
          <a:srcRect t="1830" b="-1829"/>
          <a:stretch/>
        </p:blipFill>
        <p:spPr>
          <a:xfrm>
            <a:off x="0" y="-1237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8"/>
          <p:cNvSpPr txBox="1"/>
          <p:nvPr/>
        </p:nvSpPr>
        <p:spPr>
          <a:xfrm>
            <a:off x="762000" y="360800"/>
            <a:ext cx="4800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316" name="Google Shape;316;p28"/>
          <p:cNvSpPr/>
          <p:nvPr/>
        </p:nvSpPr>
        <p:spPr>
          <a:xfrm>
            <a:off x="762000" y="1524000"/>
            <a:ext cx="45720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762000" y="1933575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762000" y="2384175"/>
            <a:ext cx="4572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We successfully evolved our agent from a simple rule-follower to a mathematically perfect entity using Alpha-Beta pruning.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762000" y="3714750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Implications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762000" y="4127725"/>
            <a:ext cx="4572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While Minimax solves 3x3 completely, the exponential growth of game trees makes it not </a:t>
            </a:r>
            <a:r>
              <a:rPr lang="en-US" sz="15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viable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for complex games without pruning.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762000" y="5232625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DD3FC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Work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762000" y="5633075"/>
            <a:ext cx="4572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Implementing MCTS allows us to scale this "Unbeatable" concept to Super Tic-Tac-Toe, Chess, and Go.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3995737" y="1705867"/>
            <a:ext cx="4200525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Q &amp; A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4095750" y="3182242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</a:t>
            </a:r>
            <a:endParaRPr/>
          </a:p>
        </p:txBody>
      </p:sp>
      <p:pic>
        <p:nvPicPr>
          <p:cNvPr id="331" name="Google Shape;33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7875" y="396329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9"/>
          <p:cNvSpPr txBox="1"/>
          <p:nvPr/>
        </p:nvSpPr>
        <p:spPr>
          <a:xfrm>
            <a:off x="4095750" y="4706263"/>
            <a:ext cx="400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Code available at: </a:t>
            </a:r>
            <a:r>
              <a:rPr lang="en-US" sz="1100" u="sng">
                <a:solidFill>
                  <a:schemeClr val="hlink"/>
                </a:solidFill>
                <a:hlinkClick r:id="rId5"/>
              </a:rPr>
              <a:t>https://github.com/dhunganab2/Tictactoe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1007</Words>
  <Application>Microsoft Macintosh PowerPoint</Application>
  <PresentationFormat>Widescreen</PresentationFormat>
  <Paragraphs>156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Merriweather Black</vt:lpstr>
      <vt:lpstr>DM Sans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Bijay Dhungana</cp:lastModifiedBy>
  <cp:revision>1</cp:revision>
  <dcterms:modified xsi:type="dcterms:W3CDTF">2025-12-04T04:15:16Z</dcterms:modified>
</cp:coreProperties>
</file>